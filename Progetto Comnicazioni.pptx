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5AFA0-356D-59A6-C093-C389315BD965}" v="346" dt="2026-05-21T11:37:13.075"/>
    <p1510:client id="{D8650ACA-48E0-CD74-E3E9-3C951442F6CF}" v="601" dt="2026-05-21T14:03:17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ltralytics.com/" TargetMode="External"/><Relationship Id="rId2" Type="http://schemas.openxmlformats.org/officeDocument/2006/relationships/hyperlink" Target="https://github.com/milazz-rich/progetto_comunicazion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sh.plotly.com/" TargetMode="External"/><Relationship Id="rId4" Type="http://schemas.openxmlformats.org/officeDocument/2006/relationships/hyperlink" Target="https://opencv-tutorial.readthedocs.io/en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38200" y="5586257"/>
            <a:ext cx="6926703" cy="804161"/>
          </a:xfrm>
        </p:spPr>
        <p:txBody>
          <a:bodyPr anchor="ctr">
            <a:normAutofit/>
          </a:bodyPr>
          <a:lstStyle/>
          <a:p>
            <a:pPr algn="l"/>
            <a:r>
              <a:rPr lang="de-DE" sz="3200"/>
              <a:t>Computer Vision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764904" y="5586258"/>
            <a:ext cx="3588895" cy="8041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de-DE" sz="1700"/>
              <a:t>Giuseppe Massimino, Riccardo Milazzo, Daniele Villarà , Giuliano Mirabella</a:t>
            </a:r>
          </a:p>
        </p:txBody>
      </p:sp>
      <p:pic>
        <p:nvPicPr>
          <p:cNvPr id="4" name="Immagine 3" descr="What is Computer Vision and its Real-World Applications? - Michael Megarit">
            <a:extLst>
              <a:ext uri="{FF2B5EF4-FFF2-40B4-BE49-F238E27FC236}">
                <a16:creationId xmlns:a16="http://schemas.microsoft.com/office/drawing/2014/main" id="{AF929D1D-CA25-9EBC-9386-03D099726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11"/>
          <a:stretch>
            <a:fillRect/>
          </a:stretch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50C0B7E-8B72-A8C2-6694-8159BFBE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sz="4800"/>
              <a:t>Obiettivo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C7DA2E-5F63-E8D2-7D81-0A113A72E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it-IT" sz="2400" dirty="0">
                <a:ea typeface="+mn-lt"/>
                <a:cs typeface="+mn-lt"/>
              </a:rPr>
              <a:t>Il progetto ha l’obiettivo di contare automaticamente tutti i soggetti presenti in una determinata foto utilizzando tecniche di </a:t>
            </a:r>
            <a:r>
              <a:rPr lang="it-IT" sz="2400" b="1" dirty="0">
                <a:ea typeface="+mn-lt"/>
                <a:cs typeface="+mn-lt"/>
              </a:rPr>
              <a:t>computer vision</a:t>
            </a:r>
            <a:r>
              <a:rPr lang="it-IT" sz="2400" dirty="0">
                <a:ea typeface="+mn-lt"/>
                <a:cs typeface="+mn-lt"/>
              </a:rPr>
              <a:t>.</a:t>
            </a:r>
            <a:br>
              <a:rPr lang="it-IT" sz="2400" dirty="0">
                <a:ea typeface="+mn-lt"/>
                <a:cs typeface="+mn-lt"/>
              </a:rPr>
            </a:br>
            <a:r>
              <a:rPr lang="it-IT" sz="2400" dirty="0">
                <a:ea typeface="+mn-lt"/>
                <a:cs typeface="+mn-lt"/>
              </a:rPr>
              <a:t> Attraverso l’analisi di immagini, il sistema riconosce la presenza delle persone e stima il numero totale di soggetti presenti. In una prima fase il conteggio verrà effettuato su </a:t>
            </a:r>
            <a:r>
              <a:rPr lang="it-IT" sz="2400" b="1" dirty="0">
                <a:ea typeface="+mn-lt"/>
                <a:cs typeface="+mn-lt"/>
              </a:rPr>
              <a:t>foto statiche</a:t>
            </a:r>
            <a:r>
              <a:rPr lang="it-IT" sz="2400" dirty="0">
                <a:ea typeface="+mn-lt"/>
                <a:cs typeface="+mn-lt"/>
              </a:rPr>
              <a:t>, con possibile estensione successiva all’analisi di </a:t>
            </a:r>
            <a:r>
              <a:rPr lang="it-IT" sz="2400" b="1">
                <a:ea typeface="+mn-lt"/>
                <a:cs typeface="+mn-lt"/>
              </a:rPr>
              <a:t>video, anche in tempo reale.</a:t>
            </a:r>
            <a:endParaRPr lang="it-IT" sz="2400" dirty="0"/>
          </a:p>
          <a:p>
            <a:pPr marL="0" indent="0">
              <a:buNone/>
            </a:pPr>
            <a:endParaRPr lang="it-IT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9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B40E06-4A3F-F3A0-C744-E37F7E15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sz="4800">
                <a:ea typeface="+mj-lt"/>
                <a:cs typeface="+mj-lt"/>
              </a:rPr>
              <a:t>Tecnologie utilizzate per il riconoscimento</a:t>
            </a:r>
            <a:endParaRPr lang="it-IT" sz="48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C7D3FB-46DE-093B-3C6D-4F05A396B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22" y="2983904"/>
            <a:ext cx="10367142" cy="32591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it-IT" sz="2000" dirty="0">
                <a:ea typeface="+mn-lt"/>
                <a:cs typeface="+mn-lt"/>
              </a:rPr>
              <a:t>Per sviluppare il sistema di conteggio automatico </a:t>
            </a:r>
            <a:r>
              <a:rPr lang="it-IT" sz="2000">
                <a:ea typeface="+mn-lt"/>
                <a:cs typeface="+mn-lt"/>
              </a:rPr>
              <a:t>sono</a:t>
            </a:r>
            <a:r>
              <a:rPr lang="it-IT" sz="2000" dirty="0">
                <a:ea typeface="+mn-lt"/>
                <a:cs typeface="+mn-lt"/>
              </a:rPr>
              <a:t> state utilizzate diverse tecnologie integrate tra loro. </a:t>
            </a:r>
            <a:r>
              <a:rPr lang="it-IT" sz="2000" b="1" dirty="0">
                <a:ea typeface="+mn-lt"/>
                <a:cs typeface="+mn-lt"/>
              </a:rPr>
              <a:t>YOLO</a:t>
            </a:r>
            <a:r>
              <a:rPr lang="it-IT" sz="2000" dirty="0">
                <a:ea typeface="+mn-lt"/>
                <a:cs typeface="+mn-lt"/>
              </a:rPr>
              <a:t> è stato impiegato per il riconoscimento delle persone nelle immagini, grazie alla sua capacità di individuare oggetti in modo rapido e preciso.</a:t>
            </a:r>
          </a:p>
          <a:p>
            <a:pPr>
              <a:buNone/>
            </a:pPr>
            <a:r>
              <a:rPr lang="it-IT" sz="2000" dirty="0">
                <a:ea typeface="+mn-lt"/>
                <a:cs typeface="+mn-lt"/>
              </a:rPr>
              <a:t>La libreria </a:t>
            </a:r>
            <a:r>
              <a:rPr lang="it-IT" sz="2000" b="1" dirty="0">
                <a:ea typeface="+mn-lt"/>
                <a:cs typeface="+mn-lt"/>
              </a:rPr>
              <a:t>OpenCV</a:t>
            </a:r>
            <a:r>
              <a:rPr lang="it-IT" sz="2000" dirty="0">
                <a:ea typeface="+mn-lt"/>
                <a:cs typeface="+mn-lt"/>
              </a:rPr>
              <a:t> è stata utilizzata per la gestione e l’elaborazione delle immagini, permettendo di caricare, modificare e preparare i dati prima del riconoscimento. </a:t>
            </a:r>
            <a:endParaRPr lang="it-IT" dirty="0">
              <a:ea typeface="+mn-lt"/>
              <a:cs typeface="+mn-lt"/>
            </a:endParaRPr>
          </a:p>
          <a:p>
            <a:pPr>
              <a:buNone/>
            </a:pPr>
            <a:r>
              <a:rPr lang="it-IT" sz="2000">
                <a:ea typeface="+mn-lt"/>
                <a:cs typeface="+mn-lt"/>
              </a:rPr>
              <a:t>Infine, </a:t>
            </a:r>
            <a:r>
              <a:rPr lang="it-IT" sz="2000" b="1" dirty="0">
                <a:ea typeface="+mn-lt"/>
                <a:cs typeface="+mn-lt"/>
              </a:rPr>
              <a:t>Dash</a:t>
            </a:r>
            <a:r>
              <a:rPr lang="it-IT" sz="2000">
                <a:ea typeface="+mn-lt"/>
                <a:cs typeface="+mn-lt"/>
              </a:rPr>
              <a:t> è stato scelto per realizzare un’interfaccia grafica semplice e intuitiva, attraverso cui l’utente può caricare le immagini, visualizzare i risultati dell’analisi e </a:t>
            </a:r>
            <a:r>
              <a:rPr lang="it-IT" sz="2000" dirty="0">
                <a:ea typeface="+mn-lt"/>
                <a:cs typeface="+mn-lt"/>
              </a:rPr>
              <a:t>leggere il numero di studenti rilevati dal sistema</a:t>
            </a:r>
            <a:endParaRPr lang="it-IT"/>
          </a:p>
          <a:p>
            <a:pPr marL="0" indent="0">
              <a:buNone/>
            </a:pPr>
            <a:endParaRPr lang="it-IT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76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EE615F5-1CDA-F030-0419-95026EE6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sz="4800">
                <a:ea typeface="+mj-lt"/>
                <a:cs typeface="+mj-lt"/>
              </a:rPr>
              <a:t>Elaborazione dei frame e gestione delle modalità</a:t>
            </a:r>
          </a:p>
          <a:p>
            <a:endParaRPr lang="it-IT" sz="48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4B253D-1011-BD73-922B-75B3B13D4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52524" cy="34048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it-IT" sz="1600">
                <a:ea typeface="+mn-lt"/>
                <a:cs typeface="+mn-lt"/>
              </a:rPr>
              <a:t>Il sistema si basa su una funzione di elaborazione video che riceve in input i frame acquisiti da una sorgente, che può essere una webcam, un video caricato o una singola immagine. Ogni frame viene analizzato tramite il modello </a:t>
            </a:r>
            <a:r>
              <a:rPr lang="it-IT" sz="1600" b="1">
                <a:ea typeface="+mn-lt"/>
                <a:cs typeface="+mn-lt"/>
              </a:rPr>
              <a:t>YOLOv6 Nano</a:t>
            </a:r>
            <a:r>
              <a:rPr lang="it-IT" sz="1600">
                <a:ea typeface="+mn-lt"/>
                <a:cs typeface="+mn-lt"/>
              </a:rPr>
              <a:t>, scelto perché permette di riconoscere le persone presenti nell’immagine in modo rapido ed efficiente.</a:t>
            </a:r>
            <a:endParaRPr lang="it-IT" sz="1600"/>
          </a:p>
          <a:p>
            <a:pPr>
              <a:buNone/>
            </a:pPr>
            <a:r>
              <a:rPr lang="it-IT" sz="1600" dirty="0">
                <a:ea typeface="+mn-lt"/>
                <a:cs typeface="+mn-lt"/>
              </a:rPr>
              <a:t>Dopo l’analisi, la funzione ricava il numero di persone rilevate, le conta e inserisce direttamente sul frame un </a:t>
            </a:r>
            <a:r>
              <a:rPr lang="it-IT" sz="1600" b="1" dirty="0">
                <a:ea typeface="+mn-lt"/>
                <a:cs typeface="+mn-lt"/>
              </a:rPr>
              <a:t>counter visivo</a:t>
            </a:r>
            <a:r>
              <a:rPr lang="it-IT" sz="1600" dirty="0">
                <a:ea typeface="+mn-lt"/>
                <a:cs typeface="+mn-lt"/>
              </a:rPr>
              <a:t> che mostra il totale dei </a:t>
            </a:r>
            <a:r>
              <a:rPr lang="it-IT" sz="1600">
                <a:ea typeface="+mn-lt"/>
                <a:cs typeface="+mn-lt"/>
              </a:rPr>
              <a:t>soggetti</a:t>
            </a:r>
            <a:r>
              <a:rPr lang="it-IT" sz="1600" dirty="0">
                <a:ea typeface="+mn-lt"/>
                <a:cs typeface="+mn-lt"/>
              </a:rPr>
              <a:t> individuati. In questo modo il frame originale viene trasformato in un frame modificato, contenente sia il risultato del riconoscimento sia l’informazione numerica del conteggio.</a:t>
            </a:r>
            <a:endParaRPr lang="it-IT" sz="1600" dirty="0"/>
          </a:p>
          <a:p>
            <a:pPr>
              <a:buNone/>
            </a:pPr>
            <a:r>
              <a:rPr lang="it-IT" sz="1600" dirty="0">
                <a:ea typeface="+mn-lt"/>
                <a:cs typeface="+mn-lt"/>
              </a:rPr>
              <a:t>Successivamente, il sistema viene integrato in un’interfaccia web realizzata con </a:t>
            </a:r>
            <a:r>
              <a:rPr lang="it-IT" sz="1600" b="1" dirty="0">
                <a:ea typeface="+mn-lt"/>
                <a:cs typeface="+mn-lt"/>
              </a:rPr>
              <a:t>Dash</a:t>
            </a:r>
            <a:r>
              <a:rPr lang="it-IT" sz="1600" dirty="0">
                <a:ea typeface="+mn-lt"/>
                <a:cs typeface="+mn-lt"/>
              </a:rPr>
              <a:t>, che permette all’utente di accedere a tre modalità principali: </a:t>
            </a:r>
            <a:r>
              <a:rPr lang="it-IT" sz="1600" b="1" dirty="0">
                <a:ea typeface="+mn-lt"/>
                <a:cs typeface="+mn-lt"/>
              </a:rPr>
              <a:t>Live</a:t>
            </a:r>
            <a:r>
              <a:rPr lang="it-IT" sz="1600" dirty="0">
                <a:ea typeface="+mn-lt"/>
                <a:cs typeface="+mn-lt"/>
              </a:rPr>
              <a:t>, </a:t>
            </a:r>
            <a:r>
              <a:rPr lang="it-IT" sz="1600" b="1" dirty="0">
                <a:ea typeface="+mn-lt"/>
                <a:cs typeface="+mn-lt"/>
              </a:rPr>
              <a:t>Video</a:t>
            </a:r>
            <a:r>
              <a:rPr lang="it-IT" sz="1600" dirty="0">
                <a:ea typeface="+mn-lt"/>
                <a:cs typeface="+mn-lt"/>
              </a:rPr>
              <a:t> e </a:t>
            </a:r>
            <a:r>
              <a:rPr lang="it-IT" sz="1600" b="1">
                <a:ea typeface="+mn-lt"/>
                <a:cs typeface="+mn-lt"/>
              </a:rPr>
              <a:t>Immagine </a:t>
            </a:r>
            <a:r>
              <a:rPr lang="it-IT" sz="1600">
                <a:ea typeface="+mn-lt"/>
                <a:cs typeface="+mn-lt"/>
              </a:rPr>
              <a:t>e attraverso uno slider ci permette di </a:t>
            </a:r>
            <a:r>
              <a:rPr lang="it-IT" sz="1600" dirty="0">
                <a:ea typeface="+mn-lt"/>
                <a:cs typeface="+mn-lt"/>
              </a:rPr>
              <a:t>modificare la confidenza del modello. In ogni modalità, i frame vengono catturati, inviati alla funzione di elaborazione basata su YOLO e infine restituiti modificati come output nella pagina web, così da visualizzare in modo chiaro il conteggio delle persone presenti.</a:t>
            </a:r>
            <a:endParaRPr lang="it-IT" sz="1600" dirty="0"/>
          </a:p>
          <a:p>
            <a:pPr marL="0" indent="0">
              <a:buNone/>
            </a:pPr>
            <a:endParaRPr lang="it-IT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3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FB9C3E-C614-1164-58FD-6C5D1FF9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sz="4800"/>
              <a:t>Fonti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C16AE5-545B-6F6B-8B82-E4D2AA40C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/>
            <a:r>
              <a:rPr lang="it-IT" sz="2400">
                <a:hlinkClick r:id="rId2"/>
              </a:rPr>
              <a:t>Repository del progetto </a:t>
            </a:r>
          </a:p>
          <a:p>
            <a:pPr marL="457200" indent="-457200"/>
            <a:r>
              <a:rPr lang="it-IT" sz="2400">
                <a:hlinkClick r:id="rId3"/>
              </a:rPr>
              <a:t>YOLO</a:t>
            </a:r>
          </a:p>
          <a:p>
            <a:pPr marL="457200" indent="-457200"/>
            <a:r>
              <a:rPr lang="it-IT" sz="2400">
                <a:hlinkClick r:id="rId4"/>
              </a:rPr>
              <a:t>OpenCV</a:t>
            </a:r>
          </a:p>
          <a:p>
            <a:pPr marL="457200" indent="-457200"/>
            <a:r>
              <a:rPr lang="it-IT" sz="2400">
                <a:hlinkClick r:id="rId5"/>
              </a:rPr>
              <a:t>Dash</a:t>
            </a:r>
          </a:p>
          <a:p>
            <a:pPr marL="457200" indent="-457200"/>
            <a:endParaRPr lang="it-IT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551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Computer Vision</vt:lpstr>
      <vt:lpstr>Obiettivo del progetto</vt:lpstr>
      <vt:lpstr>Tecnologie utilizzate per il riconoscimento</vt:lpstr>
      <vt:lpstr>Elaborazione dei frame e gestione delle modalità </vt:lpstr>
      <vt:lpstr>Fonti del progetto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</cp:revision>
  <dcterms:created xsi:type="dcterms:W3CDTF">2026-05-21T10:52:15Z</dcterms:created>
  <dcterms:modified xsi:type="dcterms:W3CDTF">2026-05-21T14:06:12Z</dcterms:modified>
</cp:coreProperties>
</file>